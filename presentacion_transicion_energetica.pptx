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70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604228" y="73152"/>
            <a:ext cx="2560320" cy="49971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7474" y="640080"/>
            <a:ext cx="5943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TRANSICIÓN ENERGÉTICA
EN COLOMBIA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D9488"/>
                </a:solidFill>
                <a:latin typeface="Calibri"/>
              </a:rPr>
              <a:t>Hacia una Matriz Eléctrica Limpia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🎓  Talento Tech · Análisis de Datos — Nivel Integrador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3075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🏛️   Universidad de Caldas · Universidad de Antioquia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78224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📅  Manizales,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3716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2004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🌱 Energía Limpia
💧 Hidroeléctrica
☀️ Solar &amp; Eólica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CONTENIDO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DE LA
PRESENTACIÓN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548640"/>
            <a:ext cx="502920" cy="411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0" y="54864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548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Contexto y Problemática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124712"/>
            <a:ext cx="502920" cy="411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0" y="112471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12471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Marco Normativo Colombia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700784"/>
            <a:ext cx="502920" cy="411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0" y="170078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170078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Datos y Metodología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276856"/>
            <a:ext cx="502920" cy="411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0" y="227685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27685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Matriz Eléctrica Actual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2852928"/>
            <a:ext cx="502920" cy="411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0" y="285292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285292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Evolución 2020–2024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3429000"/>
            <a:ext cx="502920" cy="411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00400" y="34290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429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Proyección a 2030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4005072"/>
            <a:ext cx="502920" cy="411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0" y="400507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0050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Conclusiones y Recomendaciones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01 · CONTEXTO Y PROBLEMÁTICA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2011680" cy="3108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4173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1031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4° más alto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78892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Emisor de GEI en
América Latina</a:t>
            </a:r>
          </a:p>
        </p:txBody>
      </p:sp>
      <p:sp>
        <p:nvSpPr>
          <p:cNvPr id="9" name="Rectangle 8"/>
          <p:cNvSpPr/>
          <p:nvPr/>
        </p:nvSpPr>
        <p:spPr>
          <a:xfrm>
            <a:off x="2496312" y="1280160"/>
            <a:ext cx="2011680" cy="3108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96312" y="14173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96312" y="21031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99%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96312" y="278892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Electricidad de
fuentes renovables
(meta 2030)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72584" y="1280160"/>
            <a:ext cx="2011680" cy="3108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72584" y="14173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4" y="21031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11.2 GW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2584" y="278892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Meta FNCER
Ley 2099 para 2030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48856" y="1280160"/>
            <a:ext cx="2011680" cy="31089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48856" y="1417320"/>
            <a:ext cx="20116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 dirty="0" smtClean="0">
                <a:solidFill>
                  <a:srgbClr val="FFFFFF"/>
                </a:solidFill>
                <a:latin typeface="Calibri"/>
              </a:rPr>
              <a:t>🏘</a:t>
            </a:r>
            <a:endParaRPr sz="28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48856" y="21031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3.5M hogares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48856" y="278892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Sin acceso eléctrico
adecuado (2020)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1">
                <a:solidFill>
                  <a:srgbClr val="065A82"/>
                </a:solidFill>
                <a:latin typeface="Calibri"/>
              </a:rPr>
              <a:t>¿Cómo está avanzando Colombia en su transición energética y qué departamentos lideran el cambio?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02 · MARCO NORMATIVO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1188720"/>
            <a:ext cx="365760" cy="3657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5A82"/>
                </a:solidFill>
                <a:latin typeface="Calibri"/>
              </a:rPr>
              <a:t>2014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201168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9488"/>
                </a:solidFill>
                <a:latin typeface="Calibri"/>
              </a:rPr>
              <a:t>Ley 1715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Incentivos FNCER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64992" y="1188720"/>
            <a:ext cx="365760" cy="3657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42032" y="1143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5A82"/>
                </a:solidFill>
                <a:latin typeface="Calibri"/>
              </a:rPr>
              <a:t>2021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42032" y="1691640"/>
            <a:ext cx="201168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33472" y="1783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9488"/>
                </a:solidFill>
                <a:latin typeface="Calibri"/>
              </a:rPr>
              <a:t>Ley 2099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33472" y="22402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11.2 GW para 2030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41264" y="1188720"/>
            <a:ext cx="365760" cy="3657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18304" y="1143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5A82"/>
                </a:solidFill>
                <a:latin typeface="Calibri"/>
              </a:rPr>
              <a:t>2022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18304" y="1691640"/>
            <a:ext cx="201168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09744" y="1783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9488"/>
                </a:solidFill>
                <a:latin typeface="Calibri"/>
              </a:rPr>
              <a:t>CONPES 4075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9744" y="22402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Carbono neutralidad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17536" y="1188720"/>
            <a:ext cx="365760" cy="3657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94576" y="1143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5A82"/>
                </a:solidFill>
                <a:latin typeface="Calibri"/>
              </a:rPr>
              <a:t>2023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94576" y="1691640"/>
            <a:ext cx="201168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86016" y="1783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9488"/>
                </a:solidFill>
                <a:latin typeface="Calibri"/>
              </a:rPr>
              <a:t>Decreto 829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22402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Comunidades energéticas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1353312"/>
            <a:ext cx="8412480" cy="3657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1">
                <a:solidFill>
                  <a:srgbClr val="065A82"/>
                </a:solidFill>
                <a:latin typeface="Calibri"/>
              </a:rPr>
              <a:t>⚡ Colombia tiene uno de los marcos normativos más completos de la región para la transición energética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03 · DATOS Y METODOLOGÍA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4114800" cy="3657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3840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smtClean="0">
                <a:solidFill>
                  <a:srgbClr val="065A82"/>
                </a:solidFill>
                <a:latin typeface="Calibri"/>
              </a:rPr>
              <a:t>🗄  </a:t>
            </a:r>
            <a:r>
              <a:rPr sz="1300" b="1" i="0" dirty="0">
                <a:solidFill>
                  <a:srgbClr val="065A82"/>
                </a:solidFill>
                <a:latin typeface="Calibri"/>
              </a:rPr>
              <a:t>BASE DE DATOS MySQL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📦 departamentos (15)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⚡ fuentes_energia (10)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🏭 plantas (20)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718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📊 generacion_mensual (64)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📈 indicadores_energia (25)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862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📜 politicas (7)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1097280"/>
            <a:ext cx="4114800" cy="3657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46320" y="11430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🔄  PIPELINE DE ANÁLISIS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600200"/>
            <a:ext cx="38404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 smtClean="0">
                <a:solidFill>
                  <a:srgbClr val="1E293B"/>
                </a:solidFill>
                <a:latin typeface="Calibri"/>
              </a:rPr>
              <a:t>1</a:t>
            </a:r>
            <a:r>
              <a:rPr lang="es-CO" sz="1050" b="0" i="0" dirty="0" smtClean="0">
                <a:solidFill>
                  <a:srgbClr val="1E293B"/>
                </a:solidFill>
                <a:latin typeface="Calibri"/>
              </a:rPr>
              <a:t> </a:t>
            </a:r>
            <a:r>
              <a:rPr sz="1050" b="0" i="0" dirty="0" err="1" smtClean="0">
                <a:solidFill>
                  <a:srgbClr val="1E293B"/>
                </a:solidFill>
                <a:latin typeface="Calibri"/>
              </a:rPr>
              <a:t>Carga</a:t>
            </a:r>
            <a:r>
              <a:rPr sz="1050" b="0" i="0" dirty="0" smtClean="0">
                <a:solidFill>
                  <a:srgbClr val="1E293B"/>
                </a:solidFill>
                <a:latin typeface="Calibri"/>
              </a:rPr>
              <a:t> </a:t>
            </a:r>
            <a:r>
              <a:rPr sz="1050" b="0" i="0" dirty="0">
                <a:solidFill>
                  <a:srgbClr val="1E293B"/>
                </a:solidFill>
                <a:latin typeface="Calibri"/>
              </a:rPr>
              <a:t>y </a:t>
            </a:r>
            <a:r>
              <a:rPr sz="1050" b="0" i="0" dirty="0" err="1">
                <a:solidFill>
                  <a:srgbClr val="1E293B"/>
                </a:solidFill>
                <a:latin typeface="Calibri"/>
              </a:rPr>
              <a:t>normalización</a:t>
            </a:r>
            <a:r>
              <a:rPr sz="1050" b="0" i="0" dirty="0">
                <a:solidFill>
                  <a:srgbClr val="1E293B"/>
                </a:solidFill>
                <a:latin typeface="Calibri"/>
              </a:rPr>
              <a:t> de </a:t>
            </a:r>
            <a:r>
              <a:rPr sz="1050" b="0" i="0" dirty="0" err="1">
                <a:solidFill>
                  <a:srgbClr val="1E293B"/>
                </a:solidFill>
                <a:latin typeface="Calibri"/>
              </a:rPr>
              <a:t>datos</a:t>
            </a:r>
            <a:endParaRPr sz="1050" b="0" i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846320" y="2057400"/>
            <a:ext cx="38404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 smtClean="0">
                <a:solidFill>
                  <a:srgbClr val="1E293B"/>
                </a:solidFill>
                <a:latin typeface="Calibri"/>
              </a:rPr>
              <a:t>2 </a:t>
            </a:r>
            <a:r>
              <a:rPr sz="1050" b="0" i="0" dirty="0" err="1">
                <a:solidFill>
                  <a:srgbClr val="1E293B"/>
                </a:solidFill>
                <a:latin typeface="Calibri"/>
              </a:rPr>
              <a:t>Consultas</a:t>
            </a:r>
            <a:r>
              <a:rPr sz="1050" b="0" i="0" dirty="0">
                <a:solidFill>
                  <a:srgbClr val="1E293B"/>
                </a:solidFill>
                <a:latin typeface="Calibri"/>
              </a:rPr>
              <a:t> SQL </a:t>
            </a:r>
            <a:r>
              <a:rPr sz="1050" b="0" i="0" dirty="0" err="1">
                <a:solidFill>
                  <a:srgbClr val="1E293B"/>
                </a:solidFill>
                <a:latin typeface="Calibri"/>
              </a:rPr>
              <a:t>complejas</a:t>
            </a:r>
            <a:r>
              <a:rPr sz="1050" b="0" i="0" dirty="0">
                <a:solidFill>
                  <a:srgbClr val="1E293B"/>
                </a:solidFill>
                <a:latin typeface="Calibri"/>
              </a:rPr>
              <a:t> (JOINs)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514600"/>
            <a:ext cx="38404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 smtClean="0">
                <a:solidFill>
                  <a:srgbClr val="1E293B"/>
                </a:solidFill>
                <a:latin typeface="Calibri"/>
              </a:rPr>
              <a:t>3 </a:t>
            </a:r>
            <a:r>
              <a:rPr sz="1050" b="0" i="0" dirty="0" err="1">
                <a:solidFill>
                  <a:srgbClr val="1E293B"/>
                </a:solidFill>
                <a:latin typeface="Calibri"/>
              </a:rPr>
              <a:t>Integración</a:t>
            </a:r>
            <a:r>
              <a:rPr sz="1050" b="0" i="0" dirty="0">
                <a:solidFill>
                  <a:srgbClr val="1E293B"/>
                </a:solidFill>
                <a:latin typeface="Calibri"/>
              </a:rPr>
              <a:t> con Pandas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971800"/>
            <a:ext cx="38404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 smtClean="0">
                <a:solidFill>
                  <a:srgbClr val="1E293B"/>
                </a:solidFill>
                <a:latin typeface="Calibri"/>
              </a:rPr>
              <a:t>4</a:t>
            </a:r>
            <a:r>
              <a:rPr lang="es-CO" sz="1050" dirty="0">
                <a:solidFill>
                  <a:srgbClr val="1E293B"/>
                </a:solidFill>
                <a:latin typeface="Calibri"/>
              </a:rPr>
              <a:t> </a:t>
            </a:r>
            <a:r>
              <a:rPr sz="1050" b="0" i="0" dirty="0" err="1" smtClean="0">
                <a:solidFill>
                  <a:srgbClr val="1E293B"/>
                </a:solidFill>
                <a:latin typeface="Calibri"/>
              </a:rPr>
              <a:t>Análisis</a:t>
            </a:r>
            <a:r>
              <a:rPr sz="1050" b="0" i="0" dirty="0" smtClean="0">
                <a:solidFill>
                  <a:srgbClr val="1E293B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1E293B"/>
                </a:solidFill>
                <a:latin typeface="Calibri"/>
              </a:rPr>
              <a:t>estadístico</a:t>
            </a:r>
            <a:r>
              <a:rPr sz="105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1E293B"/>
                </a:solidFill>
                <a:latin typeface="Calibri"/>
              </a:rPr>
              <a:t>descriptivo</a:t>
            </a:r>
            <a:endParaRPr sz="1050" b="0" i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46320" y="3429000"/>
            <a:ext cx="38404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 smtClean="0">
                <a:solidFill>
                  <a:srgbClr val="1E293B"/>
                </a:solidFill>
                <a:latin typeface="Calibri"/>
              </a:rPr>
              <a:t>5</a:t>
            </a:r>
            <a:r>
              <a:rPr lang="es-CO" sz="1050" dirty="0">
                <a:solidFill>
                  <a:srgbClr val="1E293B"/>
                </a:solidFill>
                <a:latin typeface="Calibri"/>
              </a:rPr>
              <a:t> </a:t>
            </a:r>
            <a:r>
              <a:rPr sz="1050" b="0" i="0" dirty="0" err="1" smtClean="0">
                <a:solidFill>
                  <a:srgbClr val="1E293B"/>
                </a:solidFill>
                <a:latin typeface="Calibri"/>
              </a:rPr>
              <a:t>Visualización</a:t>
            </a:r>
            <a:r>
              <a:rPr sz="1050" b="0" i="0" dirty="0" smtClean="0">
                <a:solidFill>
                  <a:srgbClr val="1E293B"/>
                </a:solidFill>
                <a:latin typeface="Calibri"/>
              </a:rPr>
              <a:t> </a:t>
            </a:r>
            <a:r>
              <a:rPr sz="1050" b="0" i="0" dirty="0">
                <a:solidFill>
                  <a:srgbClr val="1E293B"/>
                </a:solidFill>
                <a:latin typeface="Calibri"/>
              </a:rPr>
              <a:t>con </a:t>
            </a:r>
            <a:r>
              <a:rPr sz="1050" b="0" i="0" dirty="0" err="1">
                <a:solidFill>
                  <a:srgbClr val="1E293B"/>
                </a:solidFill>
                <a:latin typeface="Calibri"/>
              </a:rPr>
              <a:t>Matplotlib</a:t>
            </a:r>
            <a:endParaRPr sz="1050" b="0" i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846320" y="3886200"/>
            <a:ext cx="38404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 smtClean="0">
                <a:solidFill>
                  <a:srgbClr val="1E293B"/>
                </a:solidFill>
                <a:latin typeface="Calibri"/>
              </a:rPr>
              <a:t>6</a:t>
            </a:r>
            <a:r>
              <a:rPr lang="es-CO" sz="1050" dirty="0">
                <a:solidFill>
                  <a:srgbClr val="1E293B"/>
                </a:solidFill>
                <a:latin typeface="Calibri"/>
              </a:rPr>
              <a:t> </a:t>
            </a:r>
            <a:r>
              <a:rPr sz="1050" b="0" i="0" dirty="0" smtClean="0">
                <a:solidFill>
                  <a:srgbClr val="1E293B"/>
                </a:solidFill>
                <a:latin typeface="Calibri"/>
              </a:rPr>
              <a:t>Dashboard </a:t>
            </a:r>
            <a:r>
              <a:rPr sz="1050" b="0" i="0" dirty="0" err="1">
                <a:solidFill>
                  <a:srgbClr val="1E293B"/>
                </a:solidFill>
                <a:latin typeface="Calibri"/>
              </a:rPr>
              <a:t>interactivo</a:t>
            </a:r>
            <a:r>
              <a:rPr sz="1050" b="0" i="0" dirty="0">
                <a:solidFill>
                  <a:srgbClr val="1E293B"/>
                </a:solidFill>
                <a:latin typeface="Calibri"/>
              </a:rPr>
              <a:t> (</a:t>
            </a:r>
            <a:r>
              <a:rPr sz="1050" b="0" i="0" dirty="0" err="1">
                <a:solidFill>
                  <a:srgbClr val="1E293B"/>
                </a:solidFill>
                <a:latin typeface="Calibri"/>
              </a:rPr>
              <a:t>Streamlit</a:t>
            </a:r>
            <a:r>
              <a:rPr sz="1050" b="0" i="0" dirty="0">
                <a:solidFill>
                  <a:srgbClr val="1E293B"/>
                </a:solidFill>
                <a:latin typeface="Calibri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04 · MATRIZ ELÉCTRICA ACTUAL</a:t>
            </a:r>
          </a:p>
        </p:txBody>
      </p:sp>
      <p:pic>
        <p:nvPicPr>
          <p:cNvPr id="5" name="Picture 4" descr="grafica_matr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8595360" cy="33930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5A82"/>
                </a:solidFill>
                <a:latin typeface="Calibri"/>
              </a:rPr>
              <a:t>🌱 92.1% de la capacidad instalada proviene de fuentes renovables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05 · EVOLUCIÓN 2020–2024</a:t>
            </a:r>
          </a:p>
        </p:txBody>
      </p:sp>
      <p:pic>
        <p:nvPicPr>
          <p:cNvPr id="5" name="Picture 4" descr="grafica_emision_inver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8595360" cy="305063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468172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📉 –48.6%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468172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📈 +20%+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468172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🏆 5 deptos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05 · COBERTURA ELÉCTRICA &amp; CORRELACIÓN</a:t>
            </a:r>
          </a:p>
        </p:txBody>
      </p:sp>
      <p:pic>
        <p:nvPicPr>
          <p:cNvPr id="5" name="Picture 4" descr="grafica_cober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51560"/>
            <a:ext cx="4480560" cy="2225081"/>
          </a:xfrm>
          <a:prstGeom prst="rect">
            <a:avLst/>
          </a:prstGeom>
        </p:spPr>
      </p:pic>
      <p:pic>
        <p:nvPicPr>
          <p:cNvPr id="6" name="Picture 5" descr="grafica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051560"/>
            <a:ext cx="4297680" cy="285000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4663440"/>
            <a:ext cx="84124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1" dirty="0" err="1" smtClean="0">
                <a:solidFill>
                  <a:srgbClr val="DC2626"/>
                </a:solidFill>
                <a:latin typeface="Calibri"/>
              </a:rPr>
              <a:t>Paradoja</a:t>
            </a:r>
            <a:r>
              <a:rPr sz="1100" b="1" i="1" dirty="0" smtClean="0">
                <a:solidFill>
                  <a:srgbClr val="DC2626"/>
                </a:solidFill>
                <a:latin typeface="Calibri"/>
              </a:rPr>
              <a:t> </a:t>
            </a:r>
            <a:r>
              <a:rPr sz="1100" b="1" i="1" dirty="0" err="1">
                <a:solidFill>
                  <a:srgbClr val="DC2626"/>
                </a:solidFill>
                <a:latin typeface="Calibri"/>
              </a:rPr>
              <a:t>energética</a:t>
            </a:r>
            <a:r>
              <a:rPr sz="1100" b="1" i="1" dirty="0">
                <a:solidFill>
                  <a:srgbClr val="DC2626"/>
                </a:solidFill>
                <a:latin typeface="Calibri"/>
              </a:rPr>
              <a:t>: La Guajira produce el 30% de la </a:t>
            </a:r>
            <a:r>
              <a:rPr sz="1100" b="1" i="1" dirty="0" err="1">
                <a:solidFill>
                  <a:srgbClr val="DC2626"/>
                </a:solidFill>
                <a:latin typeface="Calibri"/>
              </a:rPr>
              <a:t>energía</a:t>
            </a:r>
            <a:r>
              <a:rPr sz="1100" b="1" i="1" dirty="0">
                <a:solidFill>
                  <a:srgbClr val="DC2626"/>
                </a:solidFill>
                <a:latin typeface="Calibri"/>
              </a:rPr>
              <a:t> </a:t>
            </a:r>
            <a:r>
              <a:rPr sz="1100" b="1" i="1" dirty="0" err="1">
                <a:solidFill>
                  <a:srgbClr val="DC2626"/>
                </a:solidFill>
                <a:latin typeface="Calibri"/>
              </a:rPr>
              <a:t>renovable</a:t>
            </a:r>
            <a:r>
              <a:rPr sz="1100" b="1" i="1" dirty="0">
                <a:solidFill>
                  <a:srgbClr val="DC2626"/>
                </a:solidFill>
                <a:latin typeface="Calibri"/>
              </a:rPr>
              <a:t> del </a:t>
            </a:r>
            <a:r>
              <a:rPr sz="1100" b="1" i="1" dirty="0" err="1">
                <a:solidFill>
                  <a:srgbClr val="DC2626"/>
                </a:solidFill>
                <a:latin typeface="Calibri"/>
              </a:rPr>
              <a:t>país</a:t>
            </a:r>
            <a:r>
              <a:rPr sz="1100" b="1" i="1" dirty="0">
                <a:solidFill>
                  <a:srgbClr val="DC2626"/>
                </a:solidFill>
                <a:latin typeface="Calibri"/>
              </a:rPr>
              <a:t>
</a:t>
            </a:r>
            <a:r>
              <a:rPr sz="1100" b="1" i="1" dirty="0" err="1">
                <a:solidFill>
                  <a:srgbClr val="DC2626"/>
                </a:solidFill>
                <a:latin typeface="Calibri"/>
              </a:rPr>
              <a:t>pero</a:t>
            </a:r>
            <a:r>
              <a:rPr sz="1100" b="1" i="1" dirty="0">
                <a:solidFill>
                  <a:srgbClr val="DC2626"/>
                </a:solidFill>
                <a:latin typeface="Calibri"/>
              </a:rPr>
              <a:t> </a:t>
            </a:r>
            <a:r>
              <a:rPr sz="1100" b="1" i="1" dirty="0" err="1">
                <a:solidFill>
                  <a:srgbClr val="DC2626"/>
                </a:solidFill>
                <a:latin typeface="Calibri"/>
              </a:rPr>
              <a:t>tiene</a:t>
            </a:r>
            <a:r>
              <a:rPr sz="1100" b="1" i="1" dirty="0">
                <a:solidFill>
                  <a:srgbClr val="DC2626"/>
                </a:solidFill>
                <a:latin typeface="Calibri"/>
              </a:rPr>
              <a:t> la </a:t>
            </a:r>
            <a:r>
              <a:rPr sz="1100" b="1" i="1" dirty="0" err="1">
                <a:solidFill>
                  <a:srgbClr val="DC2626"/>
                </a:solidFill>
                <a:latin typeface="Calibri"/>
              </a:rPr>
              <a:t>menor</a:t>
            </a:r>
            <a:r>
              <a:rPr sz="1100" b="1" i="1" dirty="0">
                <a:solidFill>
                  <a:srgbClr val="DC2626"/>
                </a:solidFill>
                <a:latin typeface="Calibri"/>
              </a:rPr>
              <a:t> </a:t>
            </a:r>
            <a:r>
              <a:rPr sz="1100" b="1" i="1" dirty="0" err="1">
                <a:solidFill>
                  <a:srgbClr val="DC2626"/>
                </a:solidFill>
                <a:latin typeface="Calibri"/>
              </a:rPr>
              <a:t>cobertura</a:t>
            </a:r>
            <a:r>
              <a:rPr sz="1100" b="1" i="1" dirty="0">
                <a:solidFill>
                  <a:srgbClr val="DC2626"/>
                </a:solidFill>
                <a:latin typeface="Calibri"/>
              </a:rPr>
              <a:t> </a:t>
            </a:r>
            <a:r>
              <a:rPr sz="1100" b="1" i="1" dirty="0" err="1">
                <a:solidFill>
                  <a:srgbClr val="DC2626"/>
                </a:solidFill>
                <a:latin typeface="Calibri"/>
              </a:rPr>
              <a:t>eléctrica</a:t>
            </a:r>
            <a:r>
              <a:rPr sz="1100" b="1" i="1" dirty="0">
                <a:solidFill>
                  <a:srgbClr val="DC2626"/>
                </a:solidFill>
                <a:latin typeface="Calibri"/>
              </a:rPr>
              <a:t> (86.5%)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06 · PROYECCIÓN CAPACIDAD RENOVABLE 2030</a:t>
            </a:r>
          </a:p>
        </p:txBody>
      </p:sp>
      <p:pic>
        <p:nvPicPr>
          <p:cNvPr id="5" name="Picture 4" descr="grafica_proyec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8595360" cy="35211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  <a:latin typeface="Calibri"/>
              </a:rPr>
              <a:t>🎯 Meta Ley 2099: 11.200 MW de FNCER para 2030 — Colombia está en ruta de cumplirla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07 · CONCLUSIONES Y RECOMENDACIONES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41148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64008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2070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✅ Matriz &gt; 92% renovable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002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Colombia tiene una de las matrices más limpias de Latam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40280"/>
            <a:ext cx="41148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2240280"/>
            <a:ext cx="64008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230428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📉 Reducción emisiones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69748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La Guajira lidera con –48.6% en 4 años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337560"/>
            <a:ext cx="41148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3337560"/>
            <a:ext cx="64008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340156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💰 Inversión sostenida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7947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CAGR &gt; 20% anual en todos los departamentos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60" y="1143000"/>
            <a:ext cx="41148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709160" y="1143000"/>
            <a:ext cx="64008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46320" y="1207008"/>
            <a:ext cx="3840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smtClean="0">
                <a:solidFill>
                  <a:srgbClr val="065A82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065A82"/>
                </a:solidFill>
                <a:latin typeface="Calibri"/>
              </a:rPr>
              <a:t>Brecha</a:t>
            </a:r>
            <a:r>
              <a:rPr sz="1300" b="1" i="0" dirty="0">
                <a:solidFill>
                  <a:srgbClr val="065A82"/>
                </a:solidFill>
                <a:latin typeface="Calibri"/>
              </a:rPr>
              <a:t> de </a:t>
            </a:r>
            <a:r>
              <a:rPr sz="1300" b="1" i="0" dirty="0" err="1">
                <a:solidFill>
                  <a:srgbClr val="065A82"/>
                </a:solidFill>
                <a:latin typeface="Calibri"/>
              </a:rPr>
              <a:t>equidad</a:t>
            </a:r>
            <a:endParaRPr sz="1300" b="1" i="0" dirty="0">
              <a:solidFill>
                <a:srgbClr val="065A82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846320" y="16002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Regiones productoras tienen menor cobertura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60" y="2240280"/>
            <a:ext cx="41148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709160" y="2240280"/>
            <a:ext cx="64008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46320" y="230428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🎯 Meta 2030 alcanzable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269748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Si se mantiene el ritmo de subastas actual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0" y="457200"/>
            <a:ext cx="1463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0D9488"/>
                </a:solidFill>
                <a:latin typeface="Calibri"/>
              </a:rPr>
              <a:t>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73736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¡Gracias!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0604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0D9488"/>
                </a:solidFill>
                <a:latin typeface="Calibri"/>
              </a:rPr>
              <a:t>Colombia tiene la oportunidad de liderar
la transición energética en América Latina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389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Talento Tech · Análisis de Datos Nivel Integrador · 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391</Words>
  <Application>Microsoft Office PowerPoint</Application>
  <PresentationFormat>Presentación en pantalla (16:9)</PresentationFormat>
  <Paragraphs>91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stiven alexis castañeda</cp:lastModifiedBy>
  <cp:revision>3</cp:revision>
  <dcterms:created xsi:type="dcterms:W3CDTF">2013-01-27T09:14:16Z</dcterms:created>
  <dcterms:modified xsi:type="dcterms:W3CDTF">2026-04-03T16:16:49Z</dcterms:modified>
  <cp:category/>
</cp:coreProperties>
</file>